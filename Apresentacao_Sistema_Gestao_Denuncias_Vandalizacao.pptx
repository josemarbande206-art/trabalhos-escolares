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2057400"/>
            <a:ext cx="1143000" cy="1143000"/>
          </a:xfrm>
          <a:prstGeom prst="ellipse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15400" y="2743200"/>
            <a:ext cx="731520" cy="73152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7223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A095"/>
                </a:solidFill>
                <a:latin typeface="Aptos"/>
              </a:rPr>
              <a:t>APRESENTAÇÃO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77240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dirty="0" err="1">
                <a:solidFill>
                  <a:srgbClr val="FFFFFF"/>
                </a:solidFill>
                <a:latin typeface="Aptos"/>
              </a:rPr>
              <a:t>Criação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de um Sistema de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Gestão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de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Denúncias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de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Vandalização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de Bens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Públicos</a:t>
            </a:r>
            <a:endParaRPr sz="3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6949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PT" sz="1800" b="0" dirty="0">
                <a:solidFill>
                  <a:srgbClr val="D7E2ED"/>
                </a:solidFill>
                <a:latin typeface="Aptos"/>
              </a:rPr>
              <a:t>Uma proposta digital para facilitar o registo, a organização e o acompanhamento de denúncias.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5815771"/>
            <a:ext cx="48158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0" dirty="0">
                <a:solidFill>
                  <a:srgbClr val="FFFFFF"/>
                </a:solidFill>
                <a:latin typeface="Arial Black" panose="020B0A04020102020204" pitchFamily="34" charset="0"/>
              </a:rPr>
              <a:t>Nome do </a:t>
            </a:r>
            <a:r>
              <a:rPr sz="1400" b="0" dirty="0" err="1">
                <a:solidFill>
                  <a:srgbClr val="FFFFFF"/>
                </a:solidFill>
                <a:latin typeface="Arial Black" panose="020B0A04020102020204" pitchFamily="34" charset="0"/>
              </a:rPr>
              <a:t>estudante</a:t>
            </a:r>
            <a:r>
              <a:rPr sz="1400" b="0" dirty="0">
                <a:solidFill>
                  <a:srgbClr val="FFFFFF"/>
                </a:solidFill>
                <a:latin typeface="Arial Black" panose="020B0A04020102020204" pitchFamily="34" charset="0"/>
              </a:rPr>
              <a:t>:</a:t>
            </a:r>
            <a:r>
              <a:rPr lang="pt-PT" sz="1400" b="0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pt-PT" sz="1400" b="1" dirty="0">
                <a:solidFill>
                  <a:srgbClr val="FFFFF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Josemar</a:t>
            </a:r>
            <a:r>
              <a:rPr sz="1400" b="0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pt-PT" sz="1400" dirty="0">
                <a:solidFill>
                  <a:srgbClr val="FFFFFF"/>
                </a:solidFill>
                <a:latin typeface="Arial Black" panose="020B0A04020102020204" pitchFamily="34" charset="0"/>
              </a:rPr>
              <a:t>Paulo Bande</a:t>
            </a:r>
            <a:endParaRPr sz="1400" b="0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7680" y="6182997"/>
            <a:ext cx="530352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D7E2ED"/>
                </a:solidFill>
                <a:latin typeface="Arial Black" panose="020B0A04020102020204" pitchFamily="34" charset="0"/>
              </a:rPr>
              <a:t>Instituição</a:t>
            </a:r>
            <a:r>
              <a:rPr sz="1400" b="0" dirty="0">
                <a:solidFill>
                  <a:srgbClr val="D7E2ED"/>
                </a:solidFill>
                <a:latin typeface="Arial Black" panose="020B0A04020102020204" pitchFamily="34" charset="0"/>
              </a:rPr>
              <a:t> / </a:t>
            </a:r>
            <a:r>
              <a:rPr sz="1400" b="0" dirty="0" err="1">
                <a:solidFill>
                  <a:srgbClr val="D7E2ED"/>
                </a:solidFill>
                <a:latin typeface="Arial Black" panose="020B0A04020102020204" pitchFamily="34" charset="0"/>
              </a:rPr>
              <a:t>Turma</a:t>
            </a:r>
            <a:r>
              <a:rPr sz="1400" b="0" dirty="0">
                <a:solidFill>
                  <a:srgbClr val="D7E2ED"/>
                </a:solidFill>
                <a:latin typeface="Arial Black" panose="020B0A04020102020204" pitchFamily="34" charset="0"/>
              </a:rPr>
              <a:t>: </a:t>
            </a:r>
            <a:r>
              <a:rPr lang="pt-PT" sz="1400" b="0" dirty="0">
                <a:solidFill>
                  <a:srgbClr val="D7E2ED"/>
                </a:solidFill>
                <a:latin typeface="Arial Black" panose="020B0A04020102020204" pitchFamily="34" charset="0"/>
              </a:rPr>
              <a:t>DTI</a:t>
            </a:r>
            <a:endParaRPr sz="1400" b="0" dirty="0">
              <a:solidFill>
                <a:srgbClr val="D7E2ED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63054A-49AE-4265-9097-AA1E364322FB}"/>
              </a:ext>
            </a:extLst>
          </p:cNvPr>
          <p:cNvSpPr/>
          <p:nvPr/>
        </p:nvSpPr>
        <p:spPr>
          <a:xfrm>
            <a:off x="12497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7DCCBB7F-A9F6-4EA8-AAFA-C69A86404FBC}"/>
              </a:ext>
            </a:extLst>
          </p:cNvPr>
          <p:cNvSpPr/>
          <p:nvPr/>
        </p:nvSpPr>
        <p:spPr>
          <a:xfrm>
            <a:off x="667512" y="1679983"/>
            <a:ext cx="9668256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 registo, a organização e o acompanhamento das ocorrências </a:t>
            </a:r>
            <a:endParaRPr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9E3E281-7553-4FD5-B429-2A1B53CA9543}"/>
              </a:ext>
            </a:extLst>
          </p:cNvPr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PT" sz="2700" b="1" dirty="0">
                <a:solidFill>
                  <a:srgbClr val="1022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  <a:endParaRPr sz="2700" b="1" dirty="0">
              <a:solidFill>
                <a:srgbClr val="1022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FD09C81C-0F03-4124-A6BD-F7BCBAB877A4}"/>
              </a:ext>
            </a:extLst>
          </p:cNvPr>
          <p:cNvSpPr txBox="1"/>
          <p:nvPr/>
        </p:nvSpPr>
        <p:spPr>
          <a:xfrm>
            <a:off x="1066800" y="2613981"/>
            <a:ext cx="9006840" cy="203132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 presente projeto tem como tema a criação de um sistema de gestão de denúncias de vandalização de bens públicos. A proposta surge da necessidade de melhorar a forma como as ocorrências são registadas, organizadas e acompanhadas, através de uma plataforma informatizada que centralize as informações fornecidas pelos cidadãos e facilite a sua consulta pelos utilizadores autorizados. A organização dos dados constitui uma função importante dos sistemas de informação, pois permite apoiar a análise e o acompanha mento dos processos de gestão. </a:t>
            </a:r>
            <a:endParaRPr b="1" dirty="0">
              <a:solidFill>
                <a:srgbClr val="5E6E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9134B95-985F-442D-972F-213E4B9FBF4B}"/>
              </a:ext>
            </a:extLst>
          </p:cNvPr>
          <p:cNvSpPr/>
          <p:nvPr/>
        </p:nvSpPr>
        <p:spPr>
          <a:xfrm>
            <a:off x="794004" y="1564623"/>
            <a:ext cx="73152" cy="416052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9973C1F-EB61-4755-A0F8-204A05D7AFB9}"/>
              </a:ext>
            </a:extLst>
          </p:cNvPr>
          <p:cNvSpPr/>
          <p:nvPr/>
        </p:nvSpPr>
        <p:spPr>
          <a:xfrm>
            <a:off x="10114788" y="1679983"/>
            <a:ext cx="73152" cy="392980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1230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97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PT" sz="2700" b="1" dirty="0">
                <a:solidFill>
                  <a:srgbClr val="10223A"/>
                </a:solidFill>
                <a:latin typeface="Aptos"/>
              </a:rPr>
              <a:t>P</a:t>
            </a:r>
            <a:r>
              <a:rPr sz="2700" b="1" dirty="0" err="1">
                <a:solidFill>
                  <a:srgbClr val="10223A"/>
                </a:solidFill>
                <a:latin typeface="Aptos"/>
              </a:rPr>
              <a:t>roblema</a:t>
            </a:r>
            <a:endParaRPr sz="2700" b="1" dirty="0">
              <a:solidFill>
                <a:srgbClr val="1022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CA09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E7D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120640" cy="343170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just"/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 gestão de denúncias de vandalização de bens públicos pode tornar-se difícil quando as informações são recebidas por diferentes canais e não existe um procedimento uniforme para o seu registo, organização e acompanhamento. A dispersão dos dados pode dificultar a localização das ocorrências, a consulta do histórico e a identificação de situações repetidas, aumentando o esforço necessário para reunir informações relevantes para a gestão. (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Laudon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Laudon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, 2022).</a:t>
            </a:r>
          </a:p>
          <a:p>
            <a:pPr algn="l">
              <a:spcAft>
                <a:spcPts val="0"/>
              </a:spcAft>
            </a:pPr>
            <a:endParaRPr sz="1900" b="0" dirty="0">
              <a:solidFill>
                <a:srgbClr val="263238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73152" cy="1234440"/>
          </a:xfrm>
          <a:prstGeom prst="rect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581912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Registo disperso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39112"/>
            <a:ext cx="43891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 err="1">
                <a:solidFill>
                  <a:srgbClr val="5E6E7D"/>
                </a:solidFill>
                <a:latin typeface="Aptos"/>
              </a:rPr>
              <a:t>Informações</a:t>
            </a:r>
            <a:r>
              <a:rPr sz="15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E6E7D"/>
                </a:solidFill>
                <a:latin typeface="Aptos"/>
              </a:rPr>
              <a:t>podem</a:t>
            </a:r>
            <a:r>
              <a:rPr sz="15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E6E7D"/>
                </a:solidFill>
                <a:latin typeface="Aptos"/>
              </a:rPr>
              <a:t>ficar</a:t>
            </a:r>
            <a:r>
              <a:rPr sz="15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E6E7D"/>
                </a:solidFill>
                <a:latin typeface="Aptos"/>
              </a:rPr>
              <a:t>espalhadas</a:t>
            </a:r>
            <a:r>
              <a:rPr sz="1500" b="0" dirty="0">
                <a:solidFill>
                  <a:srgbClr val="5E6E7D"/>
                </a:solidFill>
                <a:latin typeface="Aptos"/>
              </a:rPr>
              <a:t> por </a:t>
            </a:r>
            <a:r>
              <a:rPr sz="1500" b="0" dirty="0" err="1">
                <a:solidFill>
                  <a:srgbClr val="5E6E7D"/>
                </a:solidFill>
                <a:latin typeface="Aptos"/>
              </a:rPr>
              <a:t>diferentes</a:t>
            </a:r>
            <a:r>
              <a:rPr sz="15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5E6E7D"/>
                </a:solidFill>
                <a:latin typeface="Aptos"/>
              </a:rPr>
              <a:t>canais</a:t>
            </a:r>
            <a:r>
              <a:rPr sz="1500" b="0" dirty="0">
                <a:solidFill>
                  <a:srgbClr val="5E6E7D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880360"/>
            <a:ext cx="73152" cy="123444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044952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Acompanhamento difícil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502152"/>
            <a:ext cx="43891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E6E7D"/>
                </a:solidFill>
                <a:latin typeface="Aptos"/>
              </a:rPr>
              <a:t>Pode faltar uma forma centralizada de consultar o estado das ocorrências.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4340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4343400"/>
            <a:ext cx="73152" cy="123444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4507992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Informação incompleta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965192"/>
            <a:ext cx="438912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E6E7D"/>
                </a:solidFill>
                <a:latin typeface="Aptos"/>
              </a:rPr>
              <a:t>Localização, descrição e evidências precisam de ser organizadas.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F27D67-FE34-4575-9851-B595AFC91E97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 </a:t>
            </a:r>
            <a:endParaRPr dirty="0"/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F045201E-7CF0-4F2C-9B5B-550814878C22}"/>
              </a:ext>
            </a:extLst>
          </p:cNvPr>
          <p:cNvSpPr/>
          <p:nvPr/>
        </p:nvSpPr>
        <p:spPr>
          <a:xfrm>
            <a:off x="560832" y="16480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 registo, a organização e o acompanhamento das ocorrências </a:t>
            </a:r>
            <a:endParaRPr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3BB9168-6AD9-459F-97A8-FC0B02DE36C2}"/>
              </a:ext>
            </a:extLst>
          </p:cNvPr>
          <p:cNvSpPr txBox="1"/>
          <p:nvPr/>
        </p:nvSpPr>
        <p:spPr>
          <a:xfrm>
            <a:off x="621792" y="59860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PT" sz="2700" b="1" dirty="0">
                <a:solidFill>
                  <a:srgbClr val="10223A"/>
                </a:solidFill>
                <a:latin typeface="Aptos"/>
              </a:rPr>
              <a:t>Pergunta de Pesquisa</a:t>
            </a:r>
            <a:endParaRPr sz="2700" b="1" dirty="0">
              <a:solidFill>
                <a:srgbClr val="10223A"/>
              </a:solidFill>
              <a:latin typeface="Aptos"/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8F66A0EF-49CB-4D0A-B66B-CA6850E9EF78}"/>
              </a:ext>
            </a:extLst>
          </p:cNvPr>
          <p:cNvSpPr/>
          <p:nvPr/>
        </p:nvSpPr>
        <p:spPr>
          <a:xfrm>
            <a:off x="6632448" y="16480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1398705D-F838-496D-B123-6BE6F00516DE}"/>
              </a:ext>
            </a:extLst>
          </p:cNvPr>
          <p:cNvSpPr txBox="1"/>
          <p:nvPr/>
        </p:nvSpPr>
        <p:spPr>
          <a:xfrm>
            <a:off x="1066800" y="2613981"/>
            <a:ext cx="4053840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De que forma a criação de um sistema informatizado de gestão de denúncias pode melhorar o registo, a organização e o acompanhamento das ocorrências de vandalização de bens públicos? </a:t>
            </a:r>
            <a:endParaRPr b="1" dirty="0">
              <a:solidFill>
                <a:srgbClr val="5E6E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455F9092-15D2-4909-A78E-8E3BE326689A}"/>
              </a:ext>
            </a:extLst>
          </p:cNvPr>
          <p:cNvSpPr txBox="1"/>
          <p:nvPr/>
        </p:nvSpPr>
        <p:spPr>
          <a:xfrm>
            <a:off x="7147560" y="2420708"/>
            <a:ext cx="4264152" cy="203132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just"/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Esta pergunta orienta a investigação para a análise das funcionalidades necessárias à gestão das denúncias, da estrutura adequada para armazenar os dados e dos mecanismos que permitem acompanhar as ocorrências. A avaliação da solução deverá considerar os requisitos definidos e os resultados de testes funcionais, de segurança e de usabilidade realiza dos após a implementação do sistema (OWASP,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s.d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.-a; W3C, 2023). </a:t>
            </a:r>
            <a:endParaRPr sz="1400" b="0" dirty="0">
              <a:solidFill>
                <a:srgbClr val="5E6E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12D8B8-8D16-45AC-B451-C7875CB61052}"/>
              </a:ext>
            </a:extLst>
          </p:cNvPr>
          <p:cNvSpPr/>
          <p:nvPr/>
        </p:nvSpPr>
        <p:spPr>
          <a:xfrm>
            <a:off x="621792" y="1417320"/>
            <a:ext cx="73152" cy="416052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BF0DEF4-C86B-4ACB-AAEB-19423305F49D}"/>
              </a:ext>
            </a:extLst>
          </p:cNvPr>
          <p:cNvSpPr/>
          <p:nvPr/>
        </p:nvSpPr>
        <p:spPr>
          <a:xfrm>
            <a:off x="6681216" y="1700120"/>
            <a:ext cx="73152" cy="387772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0564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074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56641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 err="1">
                <a:solidFill>
                  <a:srgbClr val="10223A"/>
                </a:solidFill>
                <a:latin typeface="Aptos"/>
              </a:rPr>
              <a:t>Objetivos</a:t>
            </a:r>
            <a:r>
              <a:rPr sz="2700" b="1" dirty="0">
                <a:solidFill>
                  <a:srgbClr val="10223A"/>
                </a:solidFill>
                <a:latin typeface="Aptos"/>
              </a:rPr>
              <a:t> do </a:t>
            </a:r>
            <a:r>
              <a:rPr sz="2700" b="1" dirty="0" err="1">
                <a:solidFill>
                  <a:srgbClr val="10223A"/>
                </a:solidFill>
                <a:latin typeface="Aptos"/>
              </a:rPr>
              <a:t>projeto</a:t>
            </a:r>
            <a:endParaRPr sz="2700" b="1" dirty="0">
              <a:solidFill>
                <a:srgbClr val="1022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CA09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E7D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416052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23A"/>
                </a:solidFill>
                <a:latin typeface="Aptos"/>
              </a:rPr>
              <a:t>Objetivo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46320" cy="96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dirty="0" err="1">
                <a:solidFill>
                  <a:srgbClr val="5E6E7D"/>
                </a:solidFill>
                <a:latin typeface="Aptos"/>
              </a:rPr>
              <a:t>Desenvolver</a:t>
            </a:r>
            <a:r>
              <a:rPr sz="1900" b="0" dirty="0">
                <a:solidFill>
                  <a:srgbClr val="5E6E7D"/>
                </a:solidFill>
                <a:latin typeface="Aptos"/>
              </a:rPr>
              <a:t> um </a:t>
            </a:r>
            <a:r>
              <a:rPr sz="1900" b="0" dirty="0" err="1">
                <a:solidFill>
                  <a:srgbClr val="5E6E7D"/>
                </a:solidFill>
                <a:latin typeface="Aptos"/>
              </a:rPr>
              <a:t>sistema</a:t>
            </a:r>
            <a:r>
              <a:rPr lang="pt-PT" sz="1900" b="0" dirty="0">
                <a:solidFill>
                  <a:srgbClr val="5E6E7D"/>
                </a:solidFill>
                <a:latin typeface="Aptos"/>
              </a:rPr>
              <a:t> de </a:t>
            </a:r>
            <a:r>
              <a:rPr sz="1900" b="0" dirty="0">
                <a:solidFill>
                  <a:srgbClr val="5E6E7D"/>
                </a:solidFill>
                <a:latin typeface="Aptos"/>
              </a:rPr>
              <a:t> </a:t>
            </a:r>
            <a:r>
              <a:rPr lang="pt-PT" sz="1900" b="0" dirty="0">
                <a:solidFill>
                  <a:srgbClr val="5E6E7D"/>
                </a:solidFill>
                <a:latin typeface="Aptos"/>
              </a:rPr>
              <a:t>ges</a:t>
            </a:r>
            <a:r>
              <a:rPr lang="pt-PT" sz="1900" dirty="0">
                <a:solidFill>
                  <a:srgbClr val="5E6E7D"/>
                </a:solidFill>
                <a:latin typeface="Aptos"/>
              </a:rPr>
              <a:t>tão</a:t>
            </a:r>
            <a:r>
              <a:rPr sz="1900" b="0" dirty="0">
                <a:solidFill>
                  <a:srgbClr val="5E6E7D"/>
                </a:solidFill>
                <a:latin typeface="Aptos"/>
              </a:rPr>
              <a:t> de </a:t>
            </a:r>
            <a:r>
              <a:rPr sz="1900" b="0" dirty="0" err="1">
                <a:solidFill>
                  <a:srgbClr val="5E6E7D"/>
                </a:solidFill>
                <a:latin typeface="Aptos"/>
              </a:rPr>
              <a:t>denúncias</a:t>
            </a:r>
            <a:r>
              <a:rPr sz="1900" b="0" dirty="0">
                <a:solidFill>
                  <a:srgbClr val="5E6E7D"/>
                </a:solidFill>
                <a:latin typeface="Aptos"/>
              </a:rPr>
              <a:t> de </a:t>
            </a:r>
            <a:r>
              <a:rPr sz="1900" b="0" dirty="0" err="1">
                <a:solidFill>
                  <a:srgbClr val="5E6E7D"/>
                </a:solidFill>
                <a:latin typeface="Aptos"/>
              </a:rPr>
              <a:t>vandalização</a:t>
            </a:r>
            <a:r>
              <a:rPr sz="1900" b="0" dirty="0">
                <a:solidFill>
                  <a:srgbClr val="5E6E7D"/>
                </a:solidFill>
                <a:latin typeface="Aptos"/>
              </a:rPr>
              <a:t> de bens </a:t>
            </a:r>
            <a:r>
              <a:rPr sz="1900" b="0" dirty="0" err="1">
                <a:solidFill>
                  <a:srgbClr val="5E6E7D"/>
                </a:solidFill>
                <a:latin typeface="Aptos"/>
              </a:rPr>
              <a:t>públicos</a:t>
            </a:r>
            <a:r>
              <a:rPr lang="pt-PT" sz="1900" dirty="0">
                <a:solidFill>
                  <a:srgbClr val="5E6E7D"/>
                </a:solidFill>
                <a:latin typeface="Aptos"/>
              </a:rPr>
              <a:t> em luanda.</a:t>
            </a:r>
            <a:endParaRPr sz="1900" b="0" dirty="0">
              <a:solidFill>
                <a:srgbClr val="5E6E7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23A"/>
                </a:solidFill>
                <a:latin typeface="Aptos"/>
              </a:rPr>
              <a:t>Objetivos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754880" cy="333168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Analisar as dificuldades relacionadas com o registo e o acompanhamento das denúncias de vandalização de bens públicos, considerando a importância da organização da informação para os processos de gestão.</a:t>
            </a:r>
          </a:p>
          <a:p>
            <a:pPr>
              <a:spcAft>
                <a:spcPts val="17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Identificar os requisitos funcionais e não funcionais necessários ao desenvolvimento do sistema, incluindo o registo de ocorrências, a classificação por </a:t>
            </a:r>
            <a:r>
              <a:rPr lang="pt-PT" sz="1400" dirty="0"/>
              <a:t>categorias, a localização e a consulta dos estados.</a:t>
            </a:r>
          </a:p>
          <a:p>
            <a:pPr>
              <a:spcAft>
                <a:spcPts val="17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Desenvolver uma interface web organizada e acessível, que permita aos cidadãos preencher formulários e consultar as funcionalidades disponíveis com facilidade. </a:t>
            </a:r>
          </a:p>
          <a:p>
            <a:pPr>
              <a:spcAft>
                <a:spcPts val="17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23A"/>
                </a:solidFill>
                <a:latin typeface="Aptos"/>
              </a:rPr>
              <a:t>Estudo comparativo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CA095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E7D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474720"/>
          </a:xfrm>
          <a:prstGeom prst="rect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154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Gestão tradicional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154680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5E6E7D"/>
                </a:solidFill>
                <a:latin typeface="Aptos"/>
              </a:rPr>
              <a:t>•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Registos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em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papel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ou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atendimento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presencial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Pode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exigir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deslocação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Organização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e consulta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mais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demoradas</a:t>
            </a:r>
            <a:endParaRPr sz="1600" b="0" dirty="0">
              <a:solidFill>
                <a:srgbClr val="5E6E7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347472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154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Redes sociais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154680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5E6E7D"/>
                </a:solidFill>
                <a:latin typeface="Aptos"/>
              </a:rPr>
              <a:t>•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Divulgação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rápida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de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ocorrências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Informação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dispersa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
•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Difícil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manter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um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histórico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oficial</a:t>
            </a:r>
            <a:r>
              <a:rPr sz="1600" b="0" dirty="0">
                <a:solidFill>
                  <a:srgbClr val="5E6E7D"/>
                </a:solidFill>
                <a:latin typeface="Aptos"/>
              </a:rPr>
              <a:t> e </a:t>
            </a:r>
            <a:r>
              <a:rPr sz="1600" b="0" dirty="0" err="1">
                <a:solidFill>
                  <a:srgbClr val="5E6E7D"/>
                </a:solidFill>
                <a:latin typeface="Aptos"/>
              </a:rPr>
              <a:t>estruturado</a:t>
            </a:r>
            <a:endParaRPr sz="1600" b="0" dirty="0">
              <a:solidFill>
                <a:srgbClr val="5E6E7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520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73152" cy="347472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581912"/>
            <a:ext cx="3154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Sistema informatizado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154680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• Registo centralizado
• Dados estruturados
• Consulta e acompanhamento organizados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23A"/>
                </a:solidFill>
                <a:latin typeface="Aptos"/>
              </a:rPr>
              <a:t>Síntese: a solução proposta procura reunir as informações num único sistema, sem substituir a avaliação e a atuação das entidades responsáveis.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23A"/>
                </a:solidFill>
                <a:latin typeface="Aptos"/>
              </a:rPr>
              <a:t>Solução proposta: como funciona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CA09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E7D"/>
                </a:solidFill>
                <a:latin typeface="Aptos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554480"/>
            <a:ext cx="640080" cy="640080"/>
          </a:xfrm>
          <a:prstGeom prst="ellipse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7335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Registar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926080"/>
            <a:ext cx="1965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E6E7D"/>
                </a:solidFill>
                <a:latin typeface="Aptos"/>
              </a:rPr>
              <a:t>O cidadão descreve a ocorrência.</a:t>
            </a:r>
          </a:p>
        </p:txBody>
      </p:sp>
      <p:sp>
        <p:nvSpPr>
          <p:cNvPr id="11" name="Chevron 10"/>
          <p:cNvSpPr/>
          <p:nvPr/>
        </p:nvSpPr>
        <p:spPr>
          <a:xfrm>
            <a:off x="2194560" y="1719072"/>
            <a:ext cx="457200" cy="320040"/>
          </a:xfrm>
          <a:prstGeom prst="chevron">
            <a:avLst/>
          </a:prstGeom>
          <a:solidFill>
            <a:srgbClr val="B4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74720" y="1554480"/>
            <a:ext cx="640080" cy="640080"/>
          </a:xfrm>
          <a:prstGeom prst="ellipse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7335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Informar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926080"/>
            <a:ext cx="1965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E6E7D"/>
                </a:solidFill>
                <a:latin typeface="Aptos"/>
              </a:rPr>
              <a:t>Indica categoria e localização.</a:t>
            </a:r>
          </a:p>
        </p:txBody>
      </p:sp>
      <p:sp>
        <p:nvSpPr>
          <p:cNvPr id="16" name="Chevron 15"/>
          <p:cNvSpPr/>
          <p:nvPr/>
        </p:nvSpPr>
        <p:spPr>
          <a:xfrm>
            <a:off x="4480560" y="1719072"/>
            <a:ext cx="457200" cy="320040"/>
          </a:xfrm>
          <a:prstGeom prst="chevron">
            <a:avLst/>
          </a:prstGeom>
          <a:solidFill>
            <a:srgbClr val="B4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0" y="1554480"/>
            <a:ext cx="640080" cy="640080"/>
          </a:xfrm>
          <a:prstGeom prst="ellipse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67335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Anexar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3208" y="2926080"/>
            <a:ext cx="1965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E6E7D"/>
                </a:solidFill>
                <a:latin typeface="Aptos"/>
              </a:rPr>
              <a:t>Pode adicionar evidências.</a:t>
            </a:r>
          </a:p>
        </p:txBody>
      </p:sp>
      <p:sp>
        <p:nvSpPr>
          <p:cNvPr id="21" name="Chevron 20"/>
          <p:cNvSpPr/>
          <p:nvPr/>
        </p:nvSpPr>
        <p:spPr>
          <a:xfrm>
            <a:off x="6766560" y="1719072"/>
            <a:ext cx="457200" cy="320040"/>
          </a:xfrm>
          <a:prstGeom prst="chevron">
            <a:avLst/>
          </a:prstGeom>
          <a:solidFill>
            <a:srgbClr val="B4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6720" y="1554480"/>
            <a:ext cx="640080" cy="640080"/>
          </a:xfrm>
          <a:prstGeom prst="ellipse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67335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Organizar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2926080"/>
            <a:ext cx="1965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E6E7D"/>
                </a:solidFill>
                <a:latin typeface="Aptos"/>
              </a:rPr>
              <a:t>O sistema guarda os dados na base de dados.</a:t>
            </a:r>
          </a:p>
        </p:txBody>
      </p:sp>
      <p:sp>
        <p:nvSpPr>
          <p:cNvPr id="26" name="Chevron 25"/>
          <p:cNvSpPr/>
          <p:nvPr/>
        </p:nvSpPr>
        <p:spPr>
          <a:xfrm>
            <a:off x="9052560" y="1719072"/>
            <a:ext cx="457200" cy="320040"/>
          </a:xfrm>
          <a:prstGeom prst="chevron">
            <a:avLst/>
          </a:prstGeom>
          <a:solidFill>
            <a:srgbClr val="B4C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32720" y="1554480"/>
            <a:ext cx="640080" cy="640080"/>
          </a:xfrm>
          <a:prstGeom prst="ellipse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167335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Consultar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8" y="2926080"/>
            <a:ext cx="19659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E6E7D"/>
                </a:solidFill>
                <a:latin typeface="Aptos"/>
              </a:rPr>
              <a:t>O operador autorizado analisa e acompanha a denúncia.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709160"/>
            <a:ext cx="10058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51560" y="4709160"/>
            <a:ext cx="73152" cy="91440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52728" y="4873752"/>
            <a:ext cx="9692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0223A"/>
                </a:solidFill>
                <a:latin typeface="Aptos"/>
              </a:rPr>
              <a:t>Perfis de utilização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5330952"/>
            <a:ext cx="96926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E6E7D"/>
                </a:solidFill>
                <a:latin typeface="Aptos"/>
              </a:rPr>
              <a:t>Cidadão registado • Cidadão não registado • Operador autorizado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23A"/>
                </a:solidFill>
                <a:latin typeface="Aptos"/>
              </a:rPr>
              <a:t>Tecnologias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CA095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E7D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691640"/>
          </a:xfrm>
          <a:prstGeom prst="rect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23A"/>
                </a:solidFill>
                <a:latin typeface="Aptos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484632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Estrutura as páginas, formulários e campos usados para introduzir informações.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169164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3619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23A"/>
                </a:solidFill>
                <a:latin typeface="Aptos"/>
              </a:rP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84632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Define a apresentação visual, o layout e a adaptação da interface a diferentes ecrãs.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73152" cy="169164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59359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23A"/>
                </a:solidFill>
                <a:latin typeface="Aptos"/>
              </a:rPr>
              <a:t>PHP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50791"/>
            <a:ext cx="484632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Processa os dados enviados, aplica regras do sistema e comunica com a base de dados.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73152" cy="1691640"/>
          </a:xfrm>
          <a:prstGeom prst="rect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59359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223A"/>
                </a:solidFill>
                <a:latin typeface="Aptos"/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50791"/>
            <a:ext cx="4846320" cy="941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Armazena e organiza cidadãos, ocorrências, categorias, localizações e evidências.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23A"/>
                </a:solidFill>
                <a:latin typeface="Aptos"/>
              </a:rPr>
              <a:t>Em conjunto, estas tecnologias permitem construir uma aplicação Web dinâmica ligada a uma base de dados relacional.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223A"/>
                </a:solidFill>
                <a:latin typeface="Aptos"/>
              </a:rPr>
              <a:t>Dados, segurança e qualidade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0" y="38404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CA095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E7D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3611880"/>
          </a:xfrm>
          <a:prstGeom prst="rect">
            <a:avLst/>
          </a:prstGeom>
          <a:solidFill>
            <a:srgbClr val="1F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3154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Dados organizados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154680" cy="2862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• Ocorrência
• Categoria
• Localização
• Bem público
• Evidência
• Dados do cidadão, quando aplicável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73152" cy="3611880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536192"/>
            <a:ext cx="3154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Segurança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3154680" cy="2862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• Validar os dados recebidos
• Controlar o acesso às funções
• Proteger credenciais
• Evitar consultas inseguras à base de dados
• Validar ficheiros enviados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37160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371600"/>
            <a:ext cx="73152" cy="361188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536192"/>
            <a:ext cx="3154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223A"/>
                </a:solidFill>
                <a:latin typeface="Aptos"/>
              </a:rPr>
              <a:t>Qualidade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993392"/>
            <a:ext cx="3154680" cy="2862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E6E7D"/>
                </a:solidFill>
                <a:latin typeface="Aptos"/>
              </a:rPr>
              <a:t>• Interface clara e acessível
• Testes dos formulários
• Verificação do armazenamento
• Manutenção e correção de falhas
• Proteção dos dados pessoais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0223A"/>
                </a:solidFill>
                <a:latin typeface="Aptos"/>
              </a:rPr>
              <a:t>A segurança e a qualidade devem ser consideradas durante todo o desenvolvimento e utilização do sistema.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8952" y="1234440"/>
            <a:ext cx="960120" cy="54864"/>
          </a:xfrm>
          <a:prstGeom prst="rect">
            <a:avLst/>
          </a:prstGeom>
          <a:solidFill>
            <a:srgbClr val="1CA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5080" y="2782669"/>
            <a:ext cx="649224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Obrigado</a:t>
            </a:r>
            <a:r>
              <a:rPr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pela </a:t>
            </a:r>
            <a:r>
              <a:rPr sz="36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atenção</a:t>
            </a:r>
            <a:r>
              <a:rPr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7E2E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839</Words>
  <Application>Microsoft Office PowerPoint</Application>
  <PresentationFormat>Ecrã Panorâmico</PresentationFormat>
  <Paragraphs>87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Criação de um Sistema de Gestão de Denúncias de Vandalização de Bens Públicos</dc:title>
  <dc:subject>Apresentação académica do projeto</dc:subject>
  <dc:creator>OpenAI</dc:creator>
  <cp:keywords/>
  <dc:description>generated using python-pptx</dc:description>
  <cp:lastModifiedBy>Josemar</cp:lastModifiedBy>
  <cp:revision>3</cp:revision>
  <dcterms:created xsi:type="dcterms:W3CDTF">2013-01-27T09:14:16Z</dcterms:created>
  <dcterms:modified xsi:type="dcterms:W3CDTF">2026-10-20T21:59:42Z</dcterms:modified>
  <cp:category/>
</cp:coreProperties>
</file>